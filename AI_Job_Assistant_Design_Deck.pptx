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  <a:latin typeface="Segoe UI"/>
              </a:defRPr>
            </a:pPr>
            <a:r>
              <a:t>AI Job Training Assistant</a:t>
            </a:r>
          </a:p>
          <a:p>
            <a:pPr>
              <a:spcBef>
                <a:spcPts val="1400"/>
              </a:spcBef>
              <a:defRPr sz="2200">
                <a:solidFill>
                  <a:srgbClr val="64748B"/>
                </a:solidFill>
                <a:latin typeface="Segoe UI"/>
              </a:defRPr>
            </a:pPr>
            <a:r>
              <a:t>Design, Architecture &amp; Testing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7772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334455"/>
                </a:solidFill>
                <a:latin typeface="Segoe UI"/>
              </a:defRPr>
            </a:pPr>
            <a:r>
              <a:t>• Job seekers struggle to identify skill gaps between their resume and job requirements.</a:t>
            </a:r>
          </a:p>
          <a:p>
            <a:pPr>
              <a:spcBef>
                <a:spcPts val="600"/>
              </a:spcBef>
              <a:defRPr sz="1600">
                <a:solidFill>
                  <a:srgbClr val="334455"/>
                </a:solidFill>
                <a:latin typeface="Segoe UI"/>
              </a:defRPr>
            </a:pPr>
            <a:r>
              <a:t>• Manually comparing a resume to a job description is time-consuming and prone to oversight.</a:t>
            </a:r>
          </a:p>
          <a:p>
            <a:pPr>
              <a:spcBef>
                <a:spcPts val="600"/>
              </a:spcBef>
              <a:defRPr sz="1600">
                <a:solidFill>
                  <a:srgbClr val="334455"/>
                </a:solidFill>
                <a:latin typeface="Segoe UI"/>
              </a:defRPr>
            </a:pPr>
            <a:r>
              <a:t>• Finding relevant learning resources for identified gaps is fragmented across many platforms.</a:t>
            </a:r>
          </a:p>
          <a:p>
            <a:pPr>
              <a:spcBef>
                <a:spcPts val="600"/>
              </a:spcBef>
              <a:defRPr sz="1600">
                <a:solidFill>
                  <a:srgbClr val="334455"/>
                </a:solidFill>
                <a:latin typeface="Segoe UI"/>
              </a:defRPr>
            </a:pPr>
            <a:r>
              <a:t>• There is no unified tool that automates gap analysis and curates learning resources.</a:t>
            </a:r>
          </a:p>
          <a:p>
            <a:pPr>
              <a:spcBef>
                <a:spcPts val="600"/>
              </a:spcBef>
              <a:defRPr sz="1600">
                <a:solidFill>
                  <a:srgbClr val="334455"/>
                </a:solidFill>
                <a:latin typeface="Segoe UI"/>
              </a:defRPr>
            </a:pPr>
            <a:r>
              <a:t>• Solution: An AI-powered assistant that analyzes resume vs. JD, identifies gaps, and suggests personalized training resources.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7772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Design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334455"/>
                </a:solidFill>
                <a:latin typeface="Segoe UI"/>
              </a:defRPr>
            </a:pPr>
            <a:r>
              <a:t>• AI-powered tool that compares a resume to a software job description.</a:t>
            </a:r>
          </a:p>
          <a:p>
            <a:pPr>
              <a:spcBef>
                <a:spcPts val="600"/>
              </a:spcBef>
              <a:defRPr sz="1600">
                <a:solidFill>
                  <a:srgbClr val="334455"/>
                </a:solidFill>
                <a:latin typeface="Segoe UI"/>
              </a:defRPr>
            </a:pPr>
            <a:r>
              <a:t>• Identifies skill gaps and suggests personalized learning resources.</a:t>
            </a:r>
          </a:p>
          <a:p>
            <a:pPr>
              <a:spcBef>
                <a:spcPts val="600"/>
              </a:spcBef>
              <a:defRPr sz="1600">
                <a:solidFill>
                  <a:srgbClr val="334455"/>
                </a:solidFill>
                <a:latin typeface="Segoe UI"/>
              </a:defRPr>
            </a:pPr>
            <a:r>
              <a:t>• Key capabilities:</a:t>
            </a:r>
          </a:p>
          <a:p>
            <a:pPr>
              <a:spcBef>
                <a:spcPts val="600"/>
              </a:spcBef>
              <a:defRPr sz="1600">
                <a:solidFill>
                  <a:srgbClr val="334455"/>
                </a:solidFill>
                <a:latin typeface="Segoe UI"/>
              </a:defRPr>
            </a:pPr>
            <a:r>
              <a:t>• Resume analysis — extracts technical &amp; soft skills, rates 1–100</a:t>
            </a:r>
          </a:p>
          <a:p>
            <a:pPr>
              <a:spcBef>
                <a:spcPts val="600"/>
              </a:spcBef>
              <a:defRPr sz="1600">
                <a:solidFill>
                  <a:srgbClr val="334455"/>
                </a:solidFill>
                <a:latin typeface="Segoe UI"/>
              </a:defRPr>
            </a:pPr>
            <a:r>
              <a:t>• Job description analysis — required skills, industry, domain</a:t>
            </a:r>
          </a:p>
          <a:p>
            <a:pPr>
              <a:spcBef>
                <a:spcPts val="600"/>
              </a:spcBef>
              <a:defRPr sz="1600">
                <a:solidFill>
                  <a:srgbClr val="334455"/>
                </a:solidFill>
                <a:latin typeface="Segoe UI"/>
              </a:defRPr>
            </a:pPr>
            <a:r>
              <a:t>• Skill matching — weighted match %, gap detection</a:t>
            </a:r>
          </a:p>
          <a:p>
            <a:pPr>
              <a:spcBef>
                <a:spcPts val="600"/>
              </a:spcBef>
              <a:defRPr sz="1600">
                <a:solidFill>
                  <a:srgbClr val="334455"/>
                </a:solidFill>
                <a:latin typeface="Segoe UI"/>
              </a:defRPr>
            </a:pPr>
            <a:r>
              <a:t>• Resource discovery — web, news, YouTube, books, courses</a:t>
            </a:r>
          </a:p>
          <a:p>
            <a:pPr>
              <a:spcBef>
                <a:spcPts val="600"/>
              </a:spcBef>
              <a:defRPr sz="1600">
                <a:solidFill>
                  <a:srgbClr val="334455"/>
                </a:solidFill>
                <a:latin typeface="Segoe UI"/>
              </a:defRPr>
            </a:pPr>
            <a:r>
              <a:t>• Training plan — prioritized, actionable study plan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7772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Design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334455"/>
                </a:solidFill>
                <a:latin typeface="Segoe UI"/>
              </a:defRPr>
            </a:pPr>
            <a:r>
              <a:t>• Modular orchestration — LangGraph state machine with discrete nodes</a:t>
            </a:r>
          </a:p>
          <a:p>
            <a:pPr>
              <a:spcBef>
                <a:spcPts val="600"/>
              </a:spcBef>
              <a:defRPr sz="1600">
                <a:solidFill>
                  <a:srgbClr val="334455"/>
                </a:solidFill>
                <a:latin typeface="Segoe UI"/>
              </a:defRPr>
            </a:pPr>
            <a:r>
              <a:t>• Structured outputs — Pydantic models for resume, JD, training plan</a:t>
            </a:r>
          </a:p>
          <a:p>
            <a:pPr>
              <a:spcBef>
                <a:spcPts val="600"/>
              </a:spcBef>
              <a:defRPr sz="1600">
                <a:solidFill>
                  <a:srgbClr val="334455"/>
                </a:solidFill>
                <a:latin typeface="Segoe UI"/>
              </a:defRPr>
            </a:pPr>
            <a:r>
              <a:t>• Canonical skill mapping — synonyms (LLMs, RAG, K8s) normalized for matching</a:t>
            </a:r>
          </a:p>
          <a:p>
            <a:pPr>
              <a:spcBef>
                <a:spcPts val="600"/>
              </a:spcBef>
              <a:defRPr sz="1600">
                <a:solidFill>
                  <a:srgbClr val="334455"/>
                </a:solidFill>
                <a:latin typeface="Segoe UI"/>
              </a:defRPr>
            </a:pPr>
            <a:r>
              <a:t>• Graceful degradation — missing API keys disable features, not the app</a:t>
            </a:r>
          </a:p>
          <a:p>
            <a:pPr>
              <a:spcBef>
                <a:spcPts val="600"/>
              </a:spcBef>
              <a:defRPr sz="1600">
                <a:solidFill>
                  <a:srgbClr val="334455"/>
                </a:solidFill>
                <a:latin typeface="Segoe UI"/>
              </a:defRPr>
            </a:pPr>
            <a:r>
              <a:t>• Privacy-first — resume &amp; JD not stored on any server</a:t>
            </a:r>
          </a:p>
          <a:p>
            <a:pPr>
              <a:spcBef>
                <a:spcPts val="600"/>
              </a:spcBef>
              <a:defRPr sz="1600">
                <a:solidFill>
                  <a:srgbClr val="334455"/>
                </a:solidFill>
                <a:latin typeface="Segoe UI"/>
              </a:defRPr>
            </a:pPr>
            <a:r>
              <a:t>• User overrides — add skills, adjust ratings, change domain; re-analyze without re-upload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7772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334455"/>
                </a:solidFill>
                <a:latin typeface="Segoe UI"/>
              </a:defRPr>
            </a:pPr>
            <a:r>
              <a:t>• Orchestration: LangGraph (state graph)</a:t>
            </a:r>
          </a:p>
          <a:p>
            <a:pPr>
              <a:spcBef>
                <a:spcPts val="600"/>
              </a:spcBef>
              <a:defRPr sz="1600">
                <a:solidFill>
                  <a:srgbClr val="334455"/>
                </a:solidFill>
                <a:latin typeface="Segoe UI"/>
              </a:defRPr>
            </a:pPr>
            <a:r>
              <a:t>• LLM: OpenAI GPT-4o via LangChain</a:t>
            </a:r>
          </a:p>
          <a:p>
            <a:pPr>
              <a:spcBef>
                <a:spcPts val="600"/>
              </a:spcBef>
              <a:defRPr sz="1600">
                <a:solidFill>
                  <a:srgbClr val="334455"/>
                </a:solidFill>
                <a:latin typeface="Segoe UI"/>
              </a:defRPr>
            </a:pPr>
            <a:r>
              <a:t>• UI: Streamlit</a:t>
            </a:r>
          </a:p>
          <a:p>
            <a:pPr>
              <a:spcBef>
                <a:spcPts val="600"/>
              </a:spcBef>
              <a:defRPr sz="1600">
                <a:solidFill>
                  <a:srgbClr val="334455"/>
                </a:solidFill>
                <a:latin typeface="Segoe UI"/>
              </a:defRPr>
            </a:pPr>
            <a:r>
              <a:t>• Web search: Tavily (articles, news, blog, books, courses)</a:t>
            </a:r>
          </a:p>
          <a:p>
            <a:pPr>
              <a:spcBef>
                <a:spcPts val="600"/>
              </a:spcBef>
              <a:defRPr sz="1600">
                <a:solidFill>
                  <a:srgbClr val="334455"/>
                </a:solidFill>
                <a:latin typeface="Segoe UI"/>
              </a:defRPr>
            </a:pPr>
            <a:r>
              <a:t>• Video search: YouTube Data API v3</a:t>
            </a:r>
          </a:p>
          <a:p>
            <a:pPr>
              <a:spcBef>
                <a:spcPts val="600"/>
              </a:spcBef>
              <a:defRPr sz="1600">
                <a:solidFill>
                  <a:srgbClr val="334455"/>
                </a:solidFill>
                <a:latin typeface="Segoe UI"/>
              </a:defRPr>
            </a:pPr>
            <a:r>
              <a:t>• Parsing: PyMuPDF (PDF), python-docx (DOCX), plain TXT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Architecture — LangGraph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0" y="1234440"/>
            <a:ext cx="731520" cy="27432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F172A"/>
                </a:solidFill>
                <a:latin typeface="Segoe UI"/>
              </a:defRPr>
            </a:pPr>
            <a:r>
              <a:t>START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1188720" cy="32004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334455"/>
                </a:solidFill>
                <a:latin typeface="Segoe UI"/>
              </a:defRPr>
            </a:pPr>
            <a:r>
              <a:t>parse_resume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12848" y="1920240"/>
            <a:ext cx="1188720" cy="32004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334455"/>
                </a:solidFill>
                <a:latin typeface="Segoe UI"/>
              </a:defRPr>
            </a:pPr>
            <a:r>
              <a:t>analyze_jd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2736" y="1920240"/>
            <a:ext cx="1188720" cy="32004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334455"/>
                </a:solidFill>
                <a:latin typeface="Segoe UI"/>
              </a:defRPr>
            </a:pPr>
            <a:r>
              <a:t>validate_industry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0" y="2606040"/>
            <a:ext cx="1188720" cy="32004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334455"/>
                </a:solidFill>
                <a:latin typeface="Segoe UI"/>
              </a:defRPr>
            </a:pPr>
            <a:r>
              <a:t>normalize_skills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94560" y="3291840"/>
            <a:ext cx="1188720" cy="32004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334455"/>
                </a:solidFill>
                <a:latin typeface="Segoe UI"/>
              </a:defRPr>
            </a:pPr>
            <a:r>
              <a:t>match_skills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977639"/>
            <a:ext cx="914400" cy="27432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334455"/>
                </a:solidFill>
                <a:latin typeface="Segoe UI"/>
              </a:defRPr>
            </a:pPr>
            <a:r>
              <a:t>web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20240" y="3977639"/>
            <a:ext cx="914400" cy="27432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334455"/>
                </a:solidFill>
                <a:latin typeface="Segoe UI"/>
              </a:defRPr>
            </a:pPr>
            <a:r>
              <a:t>news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3977639"/>
            <a:ext cx="914400" cy="27432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334455"/>
                </a:solidFill>
                <a:latin typeface="Segoe UI"/>
              </a:defRPr>
            </a:pPr>
            <a:r>
              <a:t>yt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3977639"/>
            <a:ext cx="914400" cy="27432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334455"/>
                </a:solidFill>
                <a:latin typeface="Segoe UI"/>
              </a:defRPr>
            </a:pPr>
            <a:r>
              <a:t>amazon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80" y="3977639"/>
            <a:ext cx="914400" cy="27432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334455"/>
                </a:solidFill>
                <a:latin typeface="Segoe UI"/>
              </a:defRPr>
            </a:pPr>
            <a:r>
              <a:t>courses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977639"/>
            <a:ext cx="914400" cy="27432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334455"/>
                </a:solidFill>
                <a:latin typeface="Segoe UI"/>
              </a:defRPr>
            </a:pPr>
            <a:r>
              <a:t>blog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94560" y="4663440"/>
            <a:ext cx="1188720" cy="32004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334455"/>
                </a:solidFill>
                <a:latin typeface="Segoe UI"/>
              </a:defRPr>
            </a:pPr>
            <a:r>
              <a:t>generate_training_plan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31920" y="5349240"/>
            <a:ext cx="731520" cy="27432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F172A"/>
                </a:solidFill>
                <a:latin typeface="Segoe UI"/>
              </a:defRPr>
            </a:pPr>
            <a:r>
              <a:t>END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1417320" y="1508760"/>
            <a:ext cx="2880360" cy="411480"/>
          </a:xfrm>
          <a:prstGeom prst="line">
            <a:avLst/>
          </a:prstGeom>
          <a:ln w="19050">
            <a:solidFill>
              <a:srgbClr val="33445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011680" y="2080260"/>
            <a:ext cx="201168" cy="0"/>
          </a:xfrm>
          <a:prstGeom prst="line">
            <a:avLst/>
          </a:prstGeom>
          <a:ln w="19050">
            <a:solidFill>
              <a:srgbClr val="33445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401568" y="2080260"/>
            <a:ext cx="201168" cy="0"/>
          </a:xfrm>
          <a:prstGeom prst="line">
            <a:avLst/>
          </a:prstGeom>
          <a:ln w="19050">
            <a:solidFill>
              <a:srgbClr val="33445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2788920" y="2240280"/>
            <a:ext cx="1408176" cy="365760"/>
          </a:xfrm>
          <a:prstGeom prst="line">
            <a:avLst/>
          </a:prstGeom>
          <a:ln w="19050">
            <a:solidFill>
              <a:srgbClr val="33445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788920" y="2926080"/>
            <a:ext cx="0" cy="365760"/>
          </a:xfrm>
          <a:prstGeom prst="line">
            <a:avLst/>
          </a:prstGeom>
          <a:ln w="19050">
            <a:solidFill>
              <a:srgbClr val="33445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280160" y="3611880"/>
            <a:ext cx="1508760" cy="365759"/>
          </a:xfrm>
          <a:prstGeom prst="line">
            <a:avLst/>
          </a:prstGeom>
          <a:ln w="19050">
            <a:solidFill>
              <a:srgbClr val="33445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2377440" y="3611880"/>
            <a:ext cx="411480" cy="365759"/>
          </a:xfrm>
          <a:prstGeom prst="line">
            <a:avLst/>
          </a:prstGeom>
          <a:ln w="19050">
            <a:solidFill>
              <a:srgbClr val="33445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788920" y="3611880"/>
            <a:ext cx="685800" cy="365759"/>
          </a:xfrm>
          <a:prstGeom prst="line">
            <a:avLst/>
          </a:prstGeom>
          <a:ln w="19050">
            <a:solidFill>
              <a:srgbClr val="33445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88920" y="3611880"/>
            <a:ext cx="1783080" cy="365759"/>
          </a:xfrm>
          <a:prstGeom prst="line">
            <a:avLst/>
          </a:prstGeom>
          <a:ln w="19050">
            <a:solidFill>
              <a:srgbClr val="33445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88920" y="3611880"/>
            <a:ext cx="2880360" cy="365759"/>
          </a:xfrm>
          <a:prstGeom prst="line">
            <a:avLst/>
          </a:prstGeom>
          <a:ln w="19050">
            <a:solidFill>
              <a:srgbClr val="33445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788920" y="3611880"/>
            <a:ext cx="3977640" cy="365759"/>
          </a:xfrm>
          <a:prstGeom prst="line">
            <a:avLst/>
          </a:prstGeom>
          <a:ln w="19050">
            <a:solidFill>
              <a:srgbClr val="33445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280160" y="4251959"/>
            <a:ext cx="1508760" cy="411481"/>
          </a:xfrm>
          <a:prstGeom prst="line">
            <a:avLst/>
          </a:prstGeom>
          <a:ln w="19050">
            <a:solidFill>
              <a:srgbClr val="33445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377440" y="4251959"/>
            <a:ext cx="411480" cy="411481"/>
          </a:xfrm>
          <a:prstGeom prst="line">
            <a:avLst/>
          </a:prstGeom>
          <a:ln w="19050">
            <a:solidFill>
              <a:srgbClr val="33445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2788920" y="4251959"/>
            <a:ext cx="685800" cy="411481"/>
          </a:xfrm>
          <a:prstGeom prst="line">
            <a:avLst/>
          </a:prstGeom>
          <a:ln w="19050">
            <a:solidFill>
              <a:srgbClr val="33445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2788920" y="4251959"/>
            <a:ext cx="1783080" cy="411481"/>
          </a:xfrm>
          <a:prstGeom prst="line">
            <a:avLst/>
          </a:prstGeom>
          <a:ln w="19050">
            <a:solidFill>
              <a:srgbClr val="33445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2788920" y="4251959"/>
            <a:ext cx="2880360" cy="411481"/>
          </a:xfrm>
          <a:prstGeom prst="line">
            <a:avLst/>
          </a:prstGeom>
          <a:ln w="19050">
            <a:solidFill>
              <a:srgbClr val="33445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2788920" y="4251959"/>
            <a:ext cx="3977640" cy="411481"/>
          </a:xfrm>
          <a:prstGeom prst="line">
            <a:avLst/>
          </a:prstGeom>
          <a:ln w="19050">
            <a:solidFill>
              <a:srgbClr val="33445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788920" y="4983479"/>
            <a:ext cx="1508760" cy="365761"/>
          </a:xfrm>
          <a:prstGeom prst="line">
            <a:avLst/>
          </a:prstGeom>
          <a:ln w="19050">
            <a:solidFill>
              <a:srgbClr val="33445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7772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State &amp; 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334455"/>
                </a:solidFill>
                <a:latin typeface="Segoe UI"/>
              </a:defRPr>
            </a:pPr>
            <a:r>
              <a:t>• GraphState (TypedDict) flows through all nodes</a:t>
            </a:r>
          </a:p>
          <a:p>
            <a:pPr>
              <a:spcBef>
                <a:spcPts val="600"/>
              </a:spcBef>
              <a:defRPr sz="1600">
                <a:solidFill>
                  <a:srgbClr val="334455"/>
                </a:solidFill>
                <a:latin typeface="Segoe UI"/>
              </a:defRPr>
            </a:pPr>
            <a:r>
              <a:t>• Inputs: resume_text, job_description, ignore_programming_languages</a:t>
            </a:r>
          </a:p>
          <a:p>
            <a:pPr>
              <a:spcBef>
                <a:spcPts val="600"/>
              </a:spcBef>
              <a:defRPr sz="1600">
                <a:solidFill>
                  <a:srgbClr val="334455"/>
                </a:solidFill>
                <a:latin typeface="Segoe UI"/>
              </a:defRPr>
            </a:pPr>
            <a:r>
              <a:t>• Resume/JD nodes: user_skills, required_skills, job_title, software_domain</a:t>
            </a:r>
          </a:p>
          <a:p>
            <a:pPr>
              <a:spcBef>
                <a:spcPts val="600"/>
              </a:spcBef>
              <a:defRPr sz="1600">
                <a:solidFill>
                  <a:srgbClr val="334455"/>
                </a:solidFill>
                <a:latin typeface="Segoe UI"/>
              </a:defRPr>
            </a:pPr>
            <a:r>
              <a:t>• Matching: skill_canonical_map, match_percentage, skill_gaps</a:t>
            </a:r>
          </a:p>
          <a:p>
            <a:pPr>
              <a:spcBef>
                <a:spcPts val="600"/>
              </a:spcBef>
              <a:defRPr sz="1600">
                <a:solidFill>
                  <a:srgbClr val="334455"/>
                </a:solidFill>
                <a:latin typeface="Segoe UI"/>
              </a:defRPr>
            </a:pPr>
            <a:r>
              <a:t>• Resources: web_articles, news, youtube, amazon, courses, blog (merged via reducers)</a:t>
            </a:r>
          </a:p>
          <a:p>
            <a:pPr>
              <a:spcBef>
                <a:spcPts val="600"/>
              </a:spcBef>
              <a:defRPr sz="1600">
                <a:solidFill>
                  <a:srgbClr val="334455"/>
                </a:solidFill>
                <a:latin typeface="Segoe UI"/>
              </a:defRPr>
            </a:pPr>
            <a:r>
              <a:t>• Output: training_plan, resource_search_warnings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7772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Unit Tests (28 tests)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334455"/>
                </a:solidFill>
                <a:latin typeface="Segoe UI"/>
              </a:defRPr>
            </a:pPr>
            <a:r>
              <a:t>• test_parsers — parse_txt, parse_resume (TXT, PDF, unsupported)</a:t>
            </a:r>
          </a:p>
          <a:p>
            <a:pPr>
              <a:spcBef>
                <a:spcPts val="600"/>
              </a:spcBef>
              <a:defRPr sz="1600">
                <a:solidFill>
                  <a:srgbClr val="334455"/>
                </a:solidFill>
                <a:latin typeface="Segoe UI"/>
              </a:defRPr>
            </a:pPr>
            <a:r>
              <a:t>• test_config — normalize_skill_name, is_programming_language, missing_api_keys</a:t>
            </a:r>
          </a:p>
          <a:p>
            <a:pPr>
              <a:spcBef>
                <a:spcPts val="600"/>
              </a:spcBef>
              <a:defRPr sz="1600">
                <a:solidFill>
                  <a:srgbClr val="334455"/>
                </a:solidFill>
                <a:latin typeface="Segoe UI"/>
              </a:defRPr>
            </a:pPr>
            <a:r>
              <a:t>• test_skill_matcher — perfect match, gap detection, synonym matching</a:t>
            </a:r>
          </a:p>
          <a:p>
            <a:pPr>
              <a:spcBef>
                <a:spcPts val="600"/>
              </a:spcBef>
              <a:defRPr sz="1600">
                <a:solidFill>
                  <a:srgbClr val="334455"/>
                </a:solidFill>
                <a:latin typeface="Segoe UI"/>
              </a:defRPr>
            </a:pPr>
            <a:r>
              <a:t>• test_resource_finder — _top_gap_skill_names fallbacks</a:t>
            </a:r>
          </a:p>
          <a:p>
            <a:pPr>
              <a:spcBef>
                <a:spcPts val="600"/>
              </a:spcBef>
              <a:defRPr sz="1600">
                <a:solidFill>
                  <a:srgbClr val="334455"/>
                </a:solidFill>
                <a:latin typeface="Segoe UI"/>
              </a:defRPr>
            </a:pPr>
            <a:r>
              <a:t>• test_export — build_export_json structure</a:t>
            </a:r>
          </a:p>
          <a:p>
            <a:pPr>
              <a:spcBef>
                <a:spcPts val="600"/>
              </a:spcBef>
              <a:defRPr sz="1600">
                <a:solidFill>
                  <a:srgbClr val="334455"/>
                </a:solidFill>
                <a:latin typeface="Segoe UI"/>
              </a:defRPr>
            </a:pPr>
            <a:r>
              <a:t>• Run: pytest tests/ -v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7772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LLM-as-a-Judge Eval Tests (3 tests)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334455"/>
                </a:solidFill>
                <a:latin typeface="Segoe UI"/>
              </a:defRPr>
            </a:pPr>
            <a:r>
              <a:t>• Uses GPT-4o-mini to judge analysis quality</a:t>
            </a:r>
          </a:p>
          <a:p>
            <a:pPr>
              <a:spcBef>
                <a:spcPts val="600"/>
              </a:spcBef>
              <a:defRPr sz="1600">
                <a:solidFill>
                  <a:srgbClr val="334455"/>
                </a:solidFill>
                <a:latin typeface="Segoe UI"/>
              </a:defRPr>
            </a:pPr>
            <a:r>
              <a:t>• Test 1: Skill gaps plausible for software engineer JD?</a:t>
            </a:r>
          </a:p>
          <a:p>
            <a:pPr>
              <a:spcBef>
                <a:spcPts val="600"/>
              </a:spcBef>
              <a:defRPr sz="1600">
                <a:solidFill>
                  <a:srgbClr val="334455"/>
                </a:solidFill>
                <a:latin typeface="Segoe UI"/>
              </a:defRPr>
            </a:pPr>
            <a:r>
              <a:t>• Test 2: Training plan prioritizes critical gaps appropriately?</a:t>
            </a:r>
          </a:p>
          <a:p>
            <a:pPr>
              <a:spcBef>
                <a:spcPts val="600"/>
              </a:spcBef>
              <a:defRPr sz="1600">
                <a:solidFill>
                  <a:srgbClr val="334455"/>
                </a:solidFill>
                <a:latin typeface="Segoe UI"/>
              </a:defRPr>
            </a:pPr>
            <a:r>
              <a:t>• Test 3: Synonym matching (LLMs vs Large Language Models) correct?</a:t>
            </a:r>
          </a:p>
          <a:p>
            <a:pPr>
              <a:spcBef>
                <a:spcPts val="600"/>
              </a:spcBef>
              <a:defRPr sz="1600">
                <a:solidFill>
                  <a:srgbClr val="334455"/>
                </a:solidFill>
                <a:latin typeface="Segoe UI"/>
              </a:defRPr>
            </a:pPr>
            <a:r>
              <a:t>• Requires OPENAI_API_KEY; skip with SKIP_EVALS=1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7772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Iterative Manual Testing &amp; Code Updates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334455"/>
                </a:solidFill>
                <a:latin typeface="Segoe UI"/>
              </a:defRPr>
            </a:pPr>
            <a:r>
              <a:t>• Learning resources not showing — fixed stream processing to handle parallel nodes</a:t>
            </a:r>
          </a:p>
          <a:p>
            <a:pPr>
              <a:spcBef>
                <a:spcPts val="600"/>
              </a:spcBef>
              <a:defRPr sz="1600">
                <a:solidFill>
                  <a:srgbClr val="334455"/>
                </a:solidFill>
                <a:latin typeface="Segoe UI"/>
              </a:defRPr>
            </a:pPr>
            <a:r>
              <a:t>• LLMs vs Large Language Models not matching — normalized canonical values in skill_normalizer</a:t>
            </a:r>
          </a:p>
          <a:p>
            <a:pPr>
              <a:spcBef>
                <a:spcPts val="600"/>
              </a:spcBef>
              <a:defRPr sz="1600">
                <a:solidFill>
                  <a:srgbClr val="334455"/>
                </a:solidFill>
                <a:latin typeface="Segoe UI"/>
              </a:defRPr>
            </a:pPr>
            <a:r>
              <a:t>• Chart not reflecting skill matches — added _skill_canonical() for chart lookups</a:t>
            </a:r>
          </a:p>
          <a:p>
            <a:pPr>
              <a:spcBef>
                <a:spcPts val="600"/>
              </a:spcBef>
              <a:defRPr sz="1600">
                <a:solidFill>
                  <a:srgbClr val="334455"/>
                </a:solidFill>
                <a:latin typeface="Segoe UI"/>
              </a:defRPr>
            </a:pPr>
            <a:r>
              <a:t>• Tavily returning 0 — surface API errors in resource_search_warnings</a:t>
            </a:r>
          </a:p>
          <a:p>
            <a:pPr>
              <a:spcBef>
                <a:spcPts val="600"/>
              </a:spcBef>
              <a:defRPr sz="1600">
                <a:solidFill>
                  <a:srgbClr val="334455"/>
                </a:solidFill>
                <a:latin typeface="Segoe UI"/>
              </a:defRPr>
            </a:pPr>
            <a:r>
              <a:t>• Token limit (429) — truncate JD to 15,000 chars</a:t>
            </a:r>
          </a:p>
          <a:p>
            <a:pPr>
              <a:spcBef>
                <a:spcPts val="600"/>
              </a:spcBef>
              <a:defRPr sz="1600">
                <a:solidFill>
                  <a:srgbClr val="334455"/>
                </a:solidFill>
                <a:latin typeface="Segoe UI"/>
              </a:defRPr>
            </a:pPr>
            <a:r>
              <a:t>• Empty skill_gaps when ignoring PLs — added required_skills_for_resources fallback</a:t>
            </a:r>
          </a:p>
          <a:p>
            <a:pPr>
              <a:spcBef>
                <a:spcPts val="600"/>
              </a:spcBef>
              <a:defRPr sz="1600">
                <a:solidFill>
                  <a:srgbClr val="334455"/>
                </a:solidFill>
                <a:latin typeface="Segoe UI"/>
              </a:defRPr>
            </a:pPr>
            <a:r>
              <a:t>• Add skill to resume — override UI with Add/Remove, re-analyze from normalize_skills</a:t>
            </a:r>
          </a:p>
          <a:p>
            <a:pPr>
              <a:spcBef>
                <a:spcPts val="600"/>
              </a:spcBef>
              <a:defRPr sz="1600">
                <a:solidFill>
                  <a:srgbClr val="334455"/>
                </a:solidFill>
                <a:latin typeface="Segoe UI"/>
              </a:defRPr>
            </a:pPr>
            <a:r>
              <a:t>• Export as JSON — build_export_json, download button</a:t>
            </a:r>
          </a:p>
          <a:p>
            <a:pPr>
              <a:spcBef>
                <a:spcPts val="600"/>
              </a:spcBef>
              <a:defRPr sz="1600">
                <a:solidFill>
                  <a:srgbClr val="334455"/>
                </a:solidFill>
                <a:latin typeface="Segoe UI"/>
              </a:defRPr>
            </a:pPr>
            <a:r>
              <a:t>• Privacy note — displayed in sidebar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