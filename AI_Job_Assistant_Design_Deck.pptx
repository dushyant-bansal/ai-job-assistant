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7772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F172A"/>
                </a:solidFill>
                <a:latin typeface="Segoe UI"/>
              </a:defRPr>
            </a:pPr>
            <a:r>
              <a:t>AI Job Training Assistant</a:t>
            </a:r>
          </a:p>
          <a:p>
            <a:pPr>
              <a:spcBef>
                <a:spcPts val="1400"/>
              </a:spcBef>
              <a:defRPr sz="2200">
                <a:solidFill>
                  <a:srgbClr val="64748B"/>
                </a:solidFill>
                <a:latin typeface="Segoe UI"/>
              </a:defRPr>
            </a:pPr>
            <a:r>
              <a:t>Design, Architecture &amp; Testing Overview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48640"/>
            <a:ext cx="7772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Segoe UI"/>
              </a:defRPr>
            </a:pPr>
            <a:r>
              <a:t>Problem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Job seekers struggle to identify skill gaps between their resume and job requirements.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Manually comparing a resume to a job description is time-consuming and prone to oversight.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Finding relevant learning resources for identified gaps is fragmented across many platforms.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There is no unified tool that automates gap analysis and curates learning resources.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Solution: An AI-powered assistant that analyzes resume vs. JD, identifies gaps, and suggests personalized training resources.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48640"/>
            <a:ext cx="7772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Segoe UI"/>
              </a:defRPr>
            </a:pPr>
            <a:r>
              <a:t>Design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AI-powered tool that compares a resume to a software job description.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Identifies skill gaps and suggests personalized learning resources.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Key capabilities: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Resume analysis — extracts technical &amp; soft skills, rates 1–100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Job description analysis — required skills, industry, domain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Skill matching — weighted match %, gap detection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Resource discovery — web, news, YouTube, books, courses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Training plan — prioritized, actionable study plan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48640"/>
            <a:ext cx="7772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Segoe UI"/>
              </a:defRPr>
            </a:pPr>
            <a:r>
              <a:t>Design Principles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Modular orchestration — LangGraph state machine with discrete nodes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Structured outputs — Pydantic models for resume, JD, training plan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Canonical skill mapping — synonyms (LLMs, RAG, K8s) normalized for matching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Graceful degradation — missing API keys disable features, not the app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Privacy-first — resume &amp; JD not stored on any server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Human in the loop — user overrides: add skills, adjust ratings, change domain; re-analyze without re-upload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48640"/>
            <a:ext cx="7772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Segoe UI"/>
              </a:defRPr>
            </a:pPr>
            <a:r>
              <a:t>Technology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Orchestration: LangGraph (state graph)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LLM: OpenAI GPT-4o via LangChain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UI: Streamlit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Web search: Tavily (articles, news, blog, books, courses)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Video search: YouTube Data API v3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Parsing: PyMuPDF (PDF), python-docx (DOCX), plain TXT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7772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Segoe UI"/>
              </a:defRPr>
            </a:pPr>
            <a:r>
              <a:t>Architecture — LangGraph Flow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931920" y="1234440"/>
            <a:ext cx="731520" cy="274320"/>
          </a:xfrm>
          <a:prstGeom prst="roundRect">
            <a:avLst/>
          </a:prstGeom>
          <a:solidFill>
            <a:srgbClr val="0D9488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>
                <a:solidFill>
                  <a:srgbClr val="0F172A"/>
                </a:solidFill>
                <a:latin typeface="Segoe UI"/>
              </a:defRPr>
            </a:pPr>
            <a:r>
              <a:t>START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920240"/>
            <a:ext cx="1188720" cy="32004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>
                <a:solidFill>
                  <a:srgbClr val="334455"/>
                </a:solidFill>
                <a:latin typeface="Segoe UI"/>
              </a:defRPr>
            </a:pPr>
            <a:r>
              <a:t>parse_resume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12848" y="1920240"/>
            <a:ext cx="1188720" cy="32004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>
                <a:solidFill>
                  <a:srgbClr val="334455"/>
                </a:solidFill>
                <a:latin typeface="Segoe UI"/>
              </a:defRPr>
            </a:pPr>
            <a:r>
              <a:t>analyze_jd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02736" y="1920240"/>
            <a:ext cx="1188720" cy="32004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>
                <a:solidFill>
                  <a:srgbClr val="334455"/>
                </a:solidFill>
                <a:latin typeface="Segoe UI"/>
              </a:defRPr>
            </a:pPr>
            <a:r>
              <a:t>validate_industry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94560" y="2606040"/>
            <a:ext cx="1188720" cy="32004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>
                <a:solidFill>
                  <a:srgbClr val="334455"/>
                </a:solidFill>
                <a:latin typeface="Segoe UI"/>
              </a:defRPr>
            </a:pPr>
            <a:r>
              <a:t>normalize_skills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94560" y="3291840"/>
            <a:ext cx="1188720" cy="32004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>
                <a:solidFill>
                  <a:srgbClr val="334455"/>
                </a:solidFill>
                <a:latin typeface="Segoe UI"/>
              </a:defRPr>
            </a:pPr>
            <a:r>
              <a:t>match_skills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977639"/>
            <a:ext cx="914400" cy="27432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>
                <a:solidFill>
                  <a:srgbClr val="334455"/>
                </a:solidFill>
                <a:latin typeface="Segoe UI"/>
              </a:defRPr>
            </a:pPr>
            <a:r>
              <a:t>web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20240" y="3977639"/>
            <a:ext cx="914400" cy="27432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>
                <a:solidFill>
                  <a:srgbClr val="334455"/>
                </a:solidFill>
                <a:latin typeface="Segoe UI"/>
              </a:defRPr>
            </a:pPr>
            <a:r>
              <a:t>news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17520" y="3977639"/>
            <a:ext cx="914400" cy="27432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>
                <a:solidFill>
                  <a:srgbClr val="334455"/>
                </a:solidFill>
                <a:latin typeface="Segoe UI"/>
              </a:defRPr>
            </a:pPr>
            <a:r>
              <a:t>yt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0" y="3977639"/>
            <a:ext cx="914400" cy="27432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>
                <a:solidFill>
                  <a:srgbClr val="334455"/>
                </a:solidFill>
                <a:latin typeface="Segoe UI"/>
              </a:defRPr>
            </a:pPr>
            <a:r>
              <a:t>amazon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12080" y="3977639"/>
            <a:ext cx="914400" cy="27432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>
                <a:solidFill>
                  <a:srgbClr val="334455"/>
                </a:solidFill>
                <a:latin typeface="Segoe UI"/>
              </a:defRPr>
            </a:pPr>
            <a:r>
              <a:t>courses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977639"/>
            <a:ext cx="914400" cy="27432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>
                <a:solidFill>
                  <a:srgbClr val="334455"/>
                </a:solidFill>
                <a:latin typeface="Segoe UI"/>
              </a:defRPr>
            </a:pPr>
            <a:r>
              <a:t>blog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94560" y="4663440"/>
            <a:ext cx="1188720" cy="32004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>
                <a:solidFill>
                  <a:srgbClr val="334455"/>
                </a:solidFill>
                <a:latin typeface="Segoe UI"/>
              </a:defRPr>
            </a:pPr>
            <a:r>
              <a:t>generate_training_plan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31920" y="5349240"/>
            <a:ext cx="731520" cy="274320"/>
          </a:xfrm>
          <a:prstGeom prst="roundRect">
            <a:avLst/>
          </a:prstGeom>
          <a:solidFill>
            <a:srgbClr val="0D9488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>
                <a:solidFill>
                  <a:srgbClr val="0F172A"/>
                </a:solidFill>
                <a:latin typeface="Segoe UI"/>
              </a:defRPr>
            </a:pPr>
            <a:r>
              <a:t>END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1417320" y="1508760"/>
            <a:ext cx="2880360" cy="411480"/>
          </a:xfrm>
          <a:prstGeom prst="line">
            <a:avLst/>
          </a:prstGeom>
          <a:ln w="19050">
            <a:solidFill>
              <a:srgbClr val="334455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2011680" y="2080260"/>
            <a:ext cx="201168" cy="0"/>
          </a:xfrm>
          <a:prstGeom prst="line">
            <a:avLst/>
          </a:prstGeom>
          <a:ln w="19050">
            <a:solidFill>
              <a:srgbClr val="334455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401568" y="2080260"/>
            <a:ext cx="201168" cy="0"/>
          </a:xfrm>
          <a:prstGeom prst="line">
            <a:avLst/>
          </a:prstGeom>
          <a:ln w="19050">
            <a:solidFill>
              <a:srgbClr val="334455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2788920" y="2240280"/>
            <a:ext cx="1408176" cy="365760"/>
          </a:xfrm>
          <a:prstGeom prst="line">
            <a:avLst/>
          </a:prstGeom>
          <a:ln w="19050">
            <a:solidFill>
              <a:srgbClr val="334455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2788920" y="2926080"/>
            <a:ext cx="0" cy="365760"/>
          </a:xfrm>
          <a:prstGeom prst="line">
            <a:avLst/>
          </a:prstGeom>
          <a:ln w="19050">
            <a:solidFill>
              <a:srgbClr val="334455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1280160" y="3611880"/>
            <a:ext cx="1508760" cy="365759"/>
          </a:xfrm>
          <a:prstGeom prst="line">
            <a:avLst/>
          </a:prstGeom>
          <a:ln w="19050">
            <a:solidFill>
              <a:srgbClr val="334455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2377440" y="3611880"/>
            <a:ext cx="411480" cy="365759"/>
          </a:xfrm>
          <a:prstGeom prst="line">
            <a:avLst/>
          </a:prstGeom>
          <a:ln w="19050">
            <a:solidFill>
              <a:srgbClr val="334455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788920" y="3611880"/>
            <a:ext cx="685800" cy="365759"/>
          </a:xfrm>
          <a:prstGeom prst="line">
            <a:avLst/>
          </a:prstGeom>
          <a:ln w="19050">
            <a:solidFill>
              <a:srgbClr val="334455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2788920" y="3611880"/>
            <a:ext cx="1783080" cy="365759"/>
          </a:xfrm>
          <a:prstGeom prst="line">
            <a:avLst/>
          </a:prstGeom>
          <a:ln w="19050">
            <a:solidFill>
              <a:srgbClr val="334455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2788920" y="3611880"/>
            <a:ext cx="2880360" cy="365759"/>
          </a:xfrm>
          <a:prstGeom prst="line">
            <a:avLst/>
          </a:prstGeom>
          <a:ln w="19050">
            <a:solidFill>
              <a:srgbClr val="334455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788920" y="3611880"/>
            <a:ext cx="3977640" cy="365759"/>
          </a:xfrm>
          <a:prstGeom prst="line">
            <a:avLst/>
          </a:prstGeom>
          <a:ln w="19050">
            <a:solidFill>
              <a:srgbClr val="334455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280160" y="4251959"/>
            <a:ext cx="1508760" cy="411481"/>
          </a:xfrm>
          <a:prstGeom prst="line">
            <a:avLst/>
          </a:prstGeom>
          <a:ln w="19050">
            <a:solidFill>
              <a:srgbClr val="334455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2377440" y="4251959"/>
            <a:ext cx="411480" cy="411481"/>
          </a:xfrm>
          <a:prstGeom prst="line">
            <a:avLst/>
          </a:prstGeom>
          <a:ln w="19050">
            <a:solidFill>
              <a:srgbClr val="334455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H="1">
            <a:off x="2788920" y="4251959"/>
            <a:ext cx="685800" cy="411481"/>
          </a:xfrm>
          <a:prstGeom prst="line">
            <a:avLst/>
          </a:prstGeom>
          <a:ln w="19050">
            <a:solidFill>
              <a:srgbClr val="334455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>
            <a:off x="2788920" y="4251959"/>
            <a:ext cx="1783080" cy="411481"/>
          </a:xfrm>
          <a:prstGeom prst="line">
            <a:avLst/>
          </a:prstGeom>
          <a:ln w="19050">
            <a:solidFill>
              <a:srgbClr val="334455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>
            <a:off x="2788920" y="4251959"/>
            <a:ext cx="2880360" cy="411481"/>
          </a:xfrm>
          <a:prstGeom prst="line">
            <a:avLst/>
          </a:prstGeom>
          <a:ln w="19050">
            <a:solidFill>
              <a:srgbClr val="334455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H="1">
            <a:off x="2788920" y="4251959"/>
            <a:ext cx="3977640" cy="411481"/>
          </a:xfrm>
          <a:prstGeom prst="line">
            <a:avLst/>
          </a:prstGeom>
          <a:ln w="19050">
            <a:solidFill>
              <a:srgbClr val="334455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788920" y="4983479"/>
            <a:ext cx="1508760" cy="365761"/>
          </a:xfrm>
          <a:prstGeom prst="line">
            <a:avLst/>
          </a:prstGeom>
          <a:ln w="19050">
            <a:solidFill>
              <a:srgbClr val="334455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48640"/>
            <a:ext cx="7772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Segoe UI"/>
              </a:defRPr>
            </a:pPr>
            <a:r>
              <a:t>State &amp; Data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GraphState (TypedDict) flows through all nodes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Inputs: resume_text, job_description, ignore_programming_languages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Resume/JD nodes: user_skills, required_skills, job_title, software_domain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Matching: skill_canonical_map, match_percentage, skill_gaps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Resources: web_articles, news, youtube, amazon, courses, blog (merged via reducers)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Output: training_plan, resource_search_warnings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48640"/>
            <a:ext cx="7772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Segoe UI"/>
              </a:defRPr>
            </a:pPr>
            <a:r>
              <a:t>Unit Tests (28 tests)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test_parsers — parse_txt, parse_resume (TXT, PDF, unsupported)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test_config — normalize_skill_name, is_programming_language, missing_api_keys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test_skill_matcher — perfect match, gap detection, synonym matching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test_resource_finder — _top_gap_skill_names fallbacks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test_export — build_export_json structure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Run: pytest tests/ -v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48640"/>
            <a:ext cx="7772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Segoe UI"/>
              </a:defRPr>
            </a:pPr>
            <a:r>
              <a:t>LLM-as-a-Judge Eval Tests (3 tests)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Uses GPT-4o-mini to judge analysis quality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Test 1: Skill gaps plausible for software engineer JD?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Test 2: Training plan prioritizes critical gaps appropriately?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Test 3: Synonym matching (LLMs vs Large Language Models) correct?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Requires OPENAI_API_KEY; skip with SKIP_EVALS=1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48640"/>
            <a:ext cx="7772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Segoe UI"/>
              </a:defRPr>
            </a:pPr>
            <a:r>
              <a:t>Iterative Manual Testing &amp; Code Updates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Learning resources not showing — fixed stream processing to handle parallel nodes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LLMs vs Large Language Models not matching — normalized canonical values in skill_normalizer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Chart not reflecting skill matches — added _skill_canonical() for chart lookups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Tavily returning 0 — surface API errors in resource_search_warnings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Token limit (429) — truncate JD to 15,000 chars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Empty skill_gaps when ignoring programming languages — added required_skills_for_resources fallback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Add skill to resume — human-in-the-loop override UI with Add/Remove, re-analyze from normalize_skills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Export as JSON — build_export_json, download button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Privacy note — displayed in sidebar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48640"/>
            <a:ext cx="7772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Segoe UI"/>
              </a:defRPr>
            </a:pPr>
            <a:r>
              <a:t>Debug Output (expander at bottom of UI)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skill_gaps, required_skills, required_skills_for_resources — counts for each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Skills sent to search — which skills were used for resource queries (or fallback)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Sample web query — example Tavily/YouTube query string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Resource counts — web_articles, news, blog, youtube, amazon, courses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Troubleshooting help: when counts are 0, check API keys and skill population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Helped debug: learning resources not showing, Tavily returning 0, empty skill_gaps when ignoring programming languages, API errors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48640"/>
            <a:ext cx="7772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Segoe UI"/>
              </a:defRPr>
            </a:pPr>
            <a:r>
              <a:t>Future Directions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Login with credentials — e.g. Google auth for authenticated sessions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Save projects on server — store job description, skills analysis, training plan, and learning resources as a project with a unique name per user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Load previous project — restore a saved project from JSON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Google Calendar integration — add the training plan to the user's Google Calendar based on user-defined days and times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